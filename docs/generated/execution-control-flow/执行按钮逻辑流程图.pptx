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5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5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62000" y="660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7683"/>
                </a:solidFill>
                <a:latin typeface="MiSans"/>
                <a:ea typeface="MiSans"/>
              </a:rPr>
              <a:t>北煤机拼装产线原型 · 生产执行模块</a:t>
            </a:r>
            <a:endParaRPr lang="en-US" sz="1200" noProof="1"/>
          </a:p>
        </p:txBody>
      </p:sp>
      <p:sp>
        <p:nvSpPr>
          <p:cNvPr id="3" name="accent-line"/>
          <p:cNvSpPr/>
          <p:nvPr/>
        </p:nvSpPr>
        <p:spPr>
          <a:xfrm>
            <a:off x="762000" y="1879600"/>
            <a:ext cx="812800" cy="50800"/>
          </a:xfrm>
          <a:prstGeom prst="rect">
            <a:avLst/>
          </a:prstGeom>
          <a:solidFill>
            <a:srgbClr val="0F5E5A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62000" y="2133600"/>
            <a:ext cx="9652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>
                <a:solidFill>
                  <a:srgbClr val="14283C"/>
                </a:solidFill>
                <a:latin typeface="MiSans"/>
                <a:ea typeface="MiSans"/>
              </a:rPr>
              <a:t>执行控制逻辑流程图</a:t>
            </a:r>
            <a:endParaRPr lang="en-US" sz="42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31496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3A4652"/>
                </a:solidFill>
                <a:latin typeface="MiSans"/>
                <a:ea typeface="MiSans"/>
              </a:rPr>
              <a:t>执行/暂停两态 · 异常标记 · 跳选前序校验 —— 执行按钮逻辑设计（v3 定稿）</a:t>
            </a:r>
            <a:endParaRPr lang="en-US" sz="1600" noProof="1"/>
          </a:p>
        </p:txBody>
      </p:sp>
      <p:sp>
        <p:nvSpPr>
          <p:cNvPr id="6" name="meta"/>
          <p:cNvSpPr txBox="1"/>
          <p:nvPr/>
        </p:nvSpPr>
        <p:spPr>
          <a:xfrm>
            <a:off x="762000" y="36576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7683"/>
                </a:solidFill>
                <a:latin typeface="MiSans"/>
                <a:ea typeface="MiSans"/>
              </a:rPr>
              <a:t>2026-10-28 ｜ 配套文档：docs/product-specs/production-execution-control.md</a:t>
            </a:r>
            <a:endParaRPr lang="en-US" sz="1200" noProof="1"/>
          </a:p>
        </p:txBody>
      </p:sp>
      <p:sp>
        <p:nvSpPr>
          <p:cNvPr id="7" name="strip-line"/>
          <p:cNvSpPr/>
          <p:nvPr/>
        </p:nvSpPr>
        <p:spPr>
          <a:xfrm>
            <a:off x="889000" y="5664200"/>
            <a:ext cx="7366000" cy="254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8" name="strip-dot-1"/>
          <p:cNvSpPr/>
          <p:nvPr/>
        </p:nvSpPr>
        <p:spPr>
          <a:xfrm>
            <a:off x="787400" y="5575300"/>
            <a:ext cx="203200" cy="203200"/>
          </a:xfrm>
          <a:prstGeom prst="ellipse">
            <a:avLst/>
          </a:prstGeom>
          <a:solidFill>
            <a:srgbClr val="6B7683"/>
          </a:solidFill>
          <a:ln>
            <a:noFill/>
          </a:ln>
        </p:spPr>
      </p:sp>
      <p:sp>
        <p:nvSpPr>
          <p:cNvPr id="9" name="strip-dot-2"/>
          <p:cNvSpPr/>
          <p:nvPr/>
        </p:nvSpPr>
        <p:spPr>
          <a:xfrm>
            <a:off x="2565400" y="5575300"/>
            <a:ext cx="203200" cy="20320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</p:sp>
      <p:sp>
        <p:nvSpPr>
          <p:cNvPr id="10" name="strip-dot-3"/>
          <p:cNvSpPr/>
          <p:nvPr/>
        </p:nvSpPr>
        <p:spPr>
          <a:xfrm>
            <a:off x="4343400" y="5575300"/>
            <a:ext cx="203200" cy="20320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1" name="strip-dot-4"/>
          <p:cNvSpPr/>
          <p:nvPr/>
        </p:nvSpPr>
        <p:spPr>
          <a:xfrm>
            <a:off x="6121400" y="5575300"/>
            <a:ext cx="203200" cy="203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12" name="strip-dot-5"/>
          <p:cNvSpPr/>
          <p:nvPr/>
        </p:nvSpPr>
        <p:spPr>
          <a:xfrm>
            <a:off x="7899400" y="5575300"/>
            <a:ext cx="203200" cy="2032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13" name="strip-label-1"/>
          <p:cNvSpPr txBox="1"/>
          <p:nvPr/>
        </p:nvSpPr>
        <p:spPr>
          <a:xfrm>
            <a:off x="533400" y="58674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空闲·就绪</a:t>
            </a:r>
            <a:endParaRPr lang="en-US" sz="1100" noProof="1"/>
          </a:p>
        </p:txBody>
      </p:sp>
      <p:sp>
        <p:nvSpPr>
          <p:cNvPr id="14" name="strip-label-2"/>
          <p:cNvSpPr txBox="1"/>
          <p:nvPr/>
        </p:nvSpPr>
        <p:spPr>
          <a:xfrm>
            <a:off x="2387600" y="5867400"/>
            <a:ext cx="55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执行中</a:t>
            </a:r>
            <a:endParaRPr lang="en-US" sz="1100" noProof="1"/>
          </a:p>
        </p:txBody>
      </p:sp>
      <p:sp>
        <p:nvSpPr>
          <p:cNvPr id="15" name="strip-label-3"/>
          <p:cNvSpPr txBox="1"/>
          <p:nvPr/>
        </p:nvSpPr>
        <p:spPr>
          <a:xfrm>
            <a:off x="4165600" y="5867400"/>
            <a:ext cx="55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暂停</a:t>
            </a:r>
            <a:endParaRPr lang="en-US" sz="1100" noProof="1"/>
          </a:p>
        </p:txBody>
      </p:sp>
      <p:sp>
        <p:nvSpPr>
          <p:cNvPr id="16" name="strip-label-4"/>
          <p:cNvSpPr txBox="1"/>
          <p:nvPr/>
        </p:nvSpPr>
        <p:spPr>
          <a:xfrm>
            <a:off x="5943600" y="5867400"/>
            <a:ext cx="55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异常</a:t>
            </a:r>
            <a:endParaRPr lang="en-US" sz="1100" noProof="1"/>
          </a:p>
        </p:txBody>
      </p:sp>
      <p:sp>
        <p:nvSpPr>
          <p:cNvPr id="17" name="strip-label-5"/>
          <p:cNvSpPr txBox="1"/>
          <p:nvPr/>
        </p:nvSpPr>
        <p:spPr>
          <a:xfrm>
            <a:off x="7797800" y="5867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完成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431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4283C"/>
                </a:solidFill>
                <a:latin typeface="MiSans"/>
                <a:ea typeface="MiSans"/>
              </a:rPr>
              <a:t>执行进度模型：每个工单记住「下一次从哪里执行」</a:t>
            </a:r>
            <a:endParaRPr lang="en-US" sz="2400" noProof="1"/>
          </a:p>
        </p:txBody>
      </p:sp>
      <p:sp>
        <p:nvSpPr>
          <p:cNvPr id="3" name="title-rule"/>
          <p:cNvSpPr/>
          <p:nvPr/>
        </p:nvSpPr>
        <p:spPr>
          <a:xfrm>
            <a:off x="635000" y="990600"/>
            <a:ext cx="10922000" cy="127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4" name="r1-num"/>
          <p:cNvSpPr txBox="1"/>
          <p:nvPr/>
        </p:nvSpPr>
        <p:spPr>
          <a:xfrm>
            <a:off x="635000" y="13716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F5E5A"/>
                </a:solidFill>
                <a:latin typeface="MiSans"/>
                <a:ea typeface="MiSans"/>
              </a:rPr>
              <a:t>01</a:t>
            </a:r>
            <a:endParaRPr lang="en-US" sz="2200" noProof="1"/>
          </a:p>
        </p:txBody>
      </p:sp>
      <p:sp>
        <p:nvSpPr>
          <p:cNvPr id="5" name="r1-title"/>
          <p:cNvSpPr txBox="1"/>
          <p:nvPr/>
        </p:nvSpPr>
        <p:spPr>
          <a:xfrm>
            <a:off x="1397000" y="13970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4283C"/>
                </a:solidFill>
                <a:latin typeface="MiSans"/>
                <a:ea typeface="MiSans"/>
              </a:rPr>
              <a:t>首次执行</a:t>
            </a:r>
            <a:endParaRPr lang="en-US" sz="1500" noProof="1"/>
          </a:p>
        </p:txBody>
      </p:sp>
      <p:sp>
        <p:nvSpPr>
          <p:cNvPr id="6" name="r1-body"/>
          <p:cNvSpPr txBox="1"/>
          <p:nvPr/>
        </p:nvSpPr>
        <p:spPr>
          <a:xfrm>
            <a:off x="1397000" y="17526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A4652"/>
                </a:solidFill>
                <a:latin typeface="MiSans"/>
                <a:ea typeface="MiSans"/>
              </a:rPr>
              <a:t>整线执行从工单首道工序的首工步开始；单站执行从该工位在工单中的首个工步开始。</a:t>
            </a:r>
            <a:endParaRPr lang="en-US" sz="1300" noProof="1"/>
          </a:p>
        </p:txBody>
      </p:sp>
      <p:sp>
        <p:nvSpPr>
          <p:cNvPr id="7" name="rule-1"/>
          <p:cNvSpPr/>
          <p:nvPr/>
        </p:nvSpPr>
        <p:spPr>
          <a:xfrm>
            <a:off x="635000" y="2489200"/>
            <a:ext cx="6223000" cy="127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8" name="r2-num"/>
          <p:cNvSpPr txBox="1"/>
          <p:nvPr/>
        </p:nvSpPr>
        <p:spPr>
          <a:xfrm>
            <a:off x="635000" y="27178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F5E5A"/>
                </a:solidFill>
                <a:latin typeface="MiSans"/>
                <a:ea typeface="MiSans"/>
              </a:rPr>
              <a:t>02</a:t>
            </a:r>
            <a:endParaRPr lang="en-US" sz="2200" noProof="1"/>
          </a:p>
        </p:txBody>
      </p:sp>
      <p:sp>
        <p:nvSpPr>
          <p:cNvPr id="9" name="r2-title"/>
          <p:cNvSpPr txBox="1"/>
          <p:nvPr/>
        </p:nvSpPr>
        <p:spPr>
          <a:xfrm>
            <a:off x="1397000" y="2743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4283C"/>
                </a:solidFill>
                <a:latin typeface="MiSans"/>
                <a:ea typeface="MiSans"/>
              </a:rPr>
              <a:t>进度续跑（核心规则）</a:t>
            </a:r>
            <a:endParaRPr lang="en-US" sz="1500" noProof="1"/>
          </a:p>
        </p:txBody>
      </p:sp>
      <p:sp>
        <p:nvSpPr>
          <p:cNvPr id="10" name="r2-body"/>
          <p:cNvSpPr txBox="1"/>
          <p:nvPr/>
        </p:nvSpPr>
        <p:spPr>
          <a:xfrm>
            <a:off x="1397000" y="3098800"/>
            <a:ext cx="5461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A4652"/>
                </a:solidFill>
                <a:latin typeface="MiSans"/>
                <a:ea typeface="MiSans"/>
              </a:rPr>
              <a:t>执行进度 = { 工位, 工步 }，随执行完成不断刷新；自动与单步共用同一份进度。无论哪种模式执行完一工步，进度都落到下一工步。</a:t>
            </a:r>
            <a:endParaRPr lang="en-US" sz="1300" noProof="1"/>
          </a:p>
        </p:txBody>
      </p:sp>
      <p:sp>
        <p:nvSpPr>
          <p:cNvPr id="11" name="rule-2"/>
          <p:cNvSpPr/>
          <p:nvPr/>
        </p:nvSpPr>
        <p:spPr>
          <a:xfrm>
            <a:off x="635000" y="4089400"/>
            <a:ext cx="6223000" cy="127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12" name="r3-num"/>
          <p:cNvSpPr txBox="1"/>
          <p:nvPr/>
        </p:nvSpPr>
        <p:spPr>
          <a:xfrm>
            <a:off x="635000" y="4318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F5E5A"/>
                </a:solidFill>
                <a:latin typeface="MiSans"/>
                <a:ea typeface="MiSans"/>
              </a:rPr>
              <a:t>03</a:t>
            </a:r>
            <a:endParaRPr lang="en-US" sz="2200" noProof="1"/>
          </a:p>
        </p:txBody>
      </p:sp>
      <p:sp>
        <p:nvSpPr>
          <p:cNvPr id="13" name="r3-title"/>
          <p:cNvSpPr txBox="1"/>
          <p:nvPr/>
        </p:nvSpPr>
        <p:spPr>
          <a:xfrm>
            <a:off x="1397000" y="43434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4283C"/>
                </a:solidFill>
                <a:latin typeface="MiSans"/>
                <a:ea typeface="MiSans"/>
              </a:rPr>
              <a:t>初始化 = 全部重置（不是执行的前置）</a:t>
            </a:r>
            <a:endParaRPr lang="en-US" sz="1500" noProof="1"/>
          </a:p>
        </p:txBody>
      </p:sp>
      <p:sp>
        <p:nvSpPr>
          <p:cNvPr id="14" name="r3-body"/>
          <p:cNvSpPr txBox="1"/>
          <p:nvPr/>
        </p:nvSpPr>
        <p:spPr>
          <a:xfrm>
            <a:off x="1397000" y="4699000"/>
            <a:ext cx="5461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A4652"/>
                </a:solidFill>
                <a:latin typeface="MiSans"/>
                <a:ea typeface="MiSans"/>
              </a:rPr>
              <a:t>整线初始化清零整线设备状态与软件流程，单站初始化清零该工位设备与流程，之后执行从最初开始。新建工单选中后直接点「执行」即可，无需先初始化。</a:t>
            </a:r>
            <a:endParaRPr lang="en-US" sz="1300" noProof="1"/>
          </a:p>
        </p:txBody>
      </p:sp>
      <p:sp>
        <p:nvSpPr>
          <p:cNvPr id="15" name="mid-divider"/>
          <p:cNvSpPr/>
          <p:nvPr/>
        </p:nvSpPr>
        <p:spPr>
          <a:xfrm>
            <a:off x="7188200" y="1371600"/>
            <a:ext cx="12700" cy="41910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16" name="legend-title"/>
          <p:cNvSpPr txBox="1"/>
          <p:nvPr/>
        </p:nvSpPr>
        <p:spPr>
          <a:xfrm>
            <a:off x="7620000" y="1371600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4283C"/>
                </a:solidFill>
                <a:latin typeface="MiSans"/>
                <a:ea typeface="MiSans"/>
              </a:rPr>
              <a:t>四种任务状态</a:t>
            </a:r>
            <a:endParaRPr lang="en-US" sz="1400" noProof="1"/>
          </a:p>
        </p:txBody>
      </p:sp>
      <p:sp>
        <p:nvSpPr>
          <p:cNvPr id="17" name="lg1-dot"/>
          <p:cNvSpPr/>
          <p:nvPr/>
        </p:nvSpPr>
        <p:spPr>
          <a:xfrm>
            <a:off x="7620000" y="1828800"/>
            <a:ext cx="152400" cy="152400"/>
          </a:xfrm>
          <a:prstGeom prst="ellipse">
            <a:avLst/>
          </a:prstGeom>
          <a:solidFill>
            <a:srgbClr val="6B7683"/>
          </a:solidFill>
          <a:ln>
            <a:noFill/>
          </a:ln>
        </p:spPr>
      </p:sp>
      <p:sp>
        <p:nvSpPr>
          <p:cNvPr id="18" name="lg1-title"/>
          <p:cNvSpPr txBox="1"/>
          <p:nvPr/>
        </p:nvSpPr>
        <p:spPr>
          <a:xfrm>
            <a:off x="7924800" y="1778000"/>
            <a:ext cx="363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4283C"/>
                </a:solidFill>
                <a:latin typeface="MiSans"/>
                <a:ea typeface="MiSans"/>
              </a:rPr>
              <a:t>空闲 · 就绪</a:t>
            </a:r>
            <a:endParaRPr lang="en-US" sz="1300" noProof="1"/>
          </a:p>
        </p:txBody>
      </p:sp>
      <p:sp>
        <p:nvSpPr>
          <p:cNvPr id="19" name="lg1-body"/>
          <p:cNvSpPr txBox="1"/>
          <p:nvPr/>
        </p:nvSpPr>
        <p:spPr>
          <a:xfrm>
            <a:off x="7924800" y="2057400"/>
            <a:ext cx="363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B7683"/>
                </a:solidFill>
                <a:latin typeface="MiSans"/>
                <a:ea typeface="MiSans"/>
              </a:rPr>
              <a:t>无执行会话；初始化、执行按钮均可点。</a:t>
            </a:r>
            <a:endParaRPr lang="en-US" sz="1200" noProof="1"/>
          </a:p>
        </p:txBody>
      </p:sp>
      <p:sp>
        <p:nvSpPr>
          <p:cNvPr id="20" name="lg2-dot"/>
          <p:cNvSpPr/>
          <p:nvPr/>
        </p:nvSpPr>
        <p:spPr>
          <a:xfrm>
            <a:off x="7620000" y="2768600"/>
            <a:ext cx="152400" cy="15240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</p:sp>
      <p:sp>
        <p:nvSpPr>
          <p:cNvPr id="21" name="lg2-title"/>
          <p:cNvSpPr txBox="1"/>
          <p:nvPr/>
        </p:nvSpPr>
        <p:spPr>
          <a:xfrm>
            <a:off x="7924800" y="2717800"/>
            <a:ext cx="363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4283C"/>
                </a:solidFill>
                <a:latin typeface="MiSans"/>
                <a:ea typeface="MiSans"/>
              </a:rPr>
              <a:t>运行中（running）</a:t>
            </a:r>
            <a:endParaRPr lang="en-US" sz="1300" noProof="1"/>
          </a:p>
        </p:txBody>
      </p:sp>
      <p:sp>
        <p:nvSpPr>
          <p:cNvPr id="22" name="lg2-body"/>
          <p:cNvSpPr txBox="1"/>
          <p:nvPr/>
        </p:nvSpPr>
        <p:spPr>
          <a:xfrm>
            <a:off x="7924800" y="2997200"/>
            <a:ext cx="363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B7683"/>
                </a:solidFill>
                <a:latin typeface="MiSans"/>
                <a:ea typeface="MiSans"/>
              </a:rPr>
              <a:t>初始化禁点、非本会话执行按钮禁点（停止除外）；tab 可切换、状态可查看。</a:t>
            </a:r>
            <a:endParaRPr lang="en-US" sz="1200" noProof="1"/>
          </a:p>
        </p:txBody>
      </p:sp>
      <p:sp>
        <p:nvSpPr>
          <p:cNvPr id="23" name="lg3-dot"/>
          <p:cNvSpPr/>
          <p:nvPr/>
        </p:nvSpPr>
        <p:spPr>
          <a:xfrm>
            <a:off x="7620000" y="3708400"/>
            <a:ext cx="152400" cy="15240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24" name="lg3-title"/>
          <p:cNvSpPr txBox="1"/>
          <p:nvPr/>
        </p:nvSpPr>
        <p:spPr>
          <a:xfrm>
            <a:off x="7924800" y="3657600"/>
            <a:ext cx="363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4283C"/>
                </a:solidFill>
                <a:latin typeface="MiSans"/>
                <a:ea typeface="MiSans"/>
              </a:rPr>
              <a:t>暂停（paused）</a:t>
            </a:r>
            <a:endParaRPr lang="en-US" sz="1300" noProof="1"/>
          </a:p>
        </p:txBody>
      </p:sp>
      <p:sp>
        <p:nvSpPr>
          <p:cNvPr id="25" name="lg3-body"/>
          <p:cNvSpPr txBox="1"/>
          <p:nvPr/>
        </p:nvSpPr>
        <p:spPr>
          <a:xfrm>
            <a:off x="7924800" y="3937000"/>
            <a:ext cx="363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B7683"/>
                </a:solidFill>
                <a:latin typeface="MiSans"/>
                <a:ea typeface="MiSans"/>
              </a:rPr>
              <a:t>软暂停：系统把当前工步执行完后停住；仍视为运行中，初始化禁点，仅「执行（恢复）」可点。</a:t>
            </a:r>
            <a:endParaRPr lang="en-US" sz="1200" noProof="1"/>
          </a:p>
        </p:txBody>
      </p:sp>
      <p:sp>
        <p:nvSpPr>
          <p:cNvPr id="26" name="lg4-dot"/>
          <p:cNvSpPr/>
          <p:nvPr/>
        </p:nvSpPr>
        <p:spPr>
          <a:xfrm>
            <a:off x="7620000" y="4648200"/>
            <a:ext cx="152400" cy="1524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27" name="lg4-title"/>
          <p:cNvSpPr txBox="1"/>
          <p:nvPr/>
        </p:nvSpPr>
        <p:spPr>
          <a:xfrm>
            <a:off x="7924800" y="4597400"/>
            <a:ext cx="363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4283C"/>
                </a:solidFill>
                <a:latin typeface="MiSans"/>
                <a:ea typeface="MiSans"/>
              </a:rPr>
              <a:t>存在异常工步（abnormal）</a:t>
            </a:r>
            <a:endParaRPr lang="en-US" sz="1300" noProof="1"/>
          </a:p>
        </p:txBody>
      </p:sp>
      <p:sp>
        <p:nvSpPr>
          <p:cNvPr id="28" name="lg4-body"/>
          <p:cNvSpPr txBox="1"/>
          <p:nvPr/>
        </p:nvSpPr>
        <p:spPr>
          <a:xfrm>
            <a:off x="7924800" y="4876800"/>
            <a:ext cx="3632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B7683"/>
                </a:solidFill>
                <a:latin typeface="MiSans"/>
                <a:ea typeface="MiSans"/>
              </a:rPr>
              <a:t>会话释放；当前工步标记「异常」，已做部分作废；可再次执行从该工步重做，或选中该步单步执行，均无需初始化。</a:t>
            </a:r>
            <a:endParaRPr lang="en-US" sz="1200" noProof="1"/>
          </a:p>
        </p:txBody>
      </p:sp>
      <p:sp>
        <p:nvSpPr>
          <p:cNvPr id="29" name="footer"/>
          <p:cNvSpPr txBox="1"/>
          <p:nvPr/>
        </p:nvSpPr>
        <p:spPr>
          <a:xfrm>
            <a:off x="7620000" y="64770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北煤机拼装产线原型 · 执行控制逻辑 v3.1 · 02 / 06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431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4283C"/>
                </a:solidFill>
                <a:latin typeface="MiSans"/>
                <a:ea typeface="MiSans"/>
              </a:rPr>
              <a:t>执行状态机：四种状态与全部跳转路径</a:t>
            </a:r>
            <a:endParaRPr lang="en-US" sz="2400" noProof="1"/>
          </a:p>
        </p:txBody>
      </p:sp>
      <p:sp>
        <p:nvSpPr>
          <p:cNvPr id="3" name="title-rule"/>
          <p:cNvSpPr/>
          <p:nvPr/>
        </p:nvSpPr>
        <p:spPr>
          <a:xfrm>
            <a:off x="635000" y="990600"/>
            <a:ext cx="10922000" cy="127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4" name="st-ready"/>
          <p:cNvSpPr/>
          <p:nvPr/>
        </p:nvSpPr>
        <p:spPr>
          <a:xfrm>
            <a:off x="889000" y="1524000"/>
            <a:ext cx="2159000" cy="736600"/>
          </a:xfrm>
          <a:prstGeom prst="rect">
            <a:avLst/>
          </a:prstGeom>
          <a:solidFill>
            <a:srgbClr val="F4F6F7"/>
          </a:solidFill>
          <a:ln w="12700">
            <a:solidFill>
              <a:srgbClr val="6B7683"/>
            </a:solidFill>
          </a:ln>
        </p:spPr>
      </p:sp>
      <p:sp>
        <p:nvSpPr>
          <p:cNvPr id="5" name="st-ready-text"/>
          <p:cNvSpPr txBox="1"/>
          <p:nvPr/>
        </p:nvSpPr>
        <p:spPr>
          <a:xfrm>
            <a:off x="889000" y="1524000"/>
            <a:ext cx="215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4283C"/>
                </a:solidFill>
                <a:latin typeface="MiSans"/>
                <a:ea typeface="MiSans"/>
              </a:rPr>
              <a:t>空闲 · 就绪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6B7683"/>
                </a:solidFill>
                <a:latin typeface="MiSans"/>
                <a:ea typeface="MiSans"/>
              </a:rPr>
              <a:t>无执行会话</a:t>
            </a:r>
            <a:endParaRPr lang="en-US" sz="1400" noProof="1"/>
          </a:p>
        </p:txBody>
      </p:sp>
      <p:sp>
        <p:nvSpPr>
          <p:cNvPr id="6" name="st-running"/>
          <p:cNvSpPr/>
          <p:nvPr/>
        </p:nvSpPr>
        <p:spPr>
          <a:xfrm>
            <a:off x="5016500" y="1524000"/>
            <a:ext cx="2159000" cy="736600"/>
          </a:xfrm>
          <a:prstGeom prst="rect">
            <a:avLst/>
          </a:prstGeom>
          <a:solidFill>
            <a:srgbClr val="E9F1F0"/>
          </a:solidFill>
          <a:ln w="19050">
            <a:solidFill>
              <a:srgbClr val="0F5E5A"/>
            </a:solidFill>
          </a:ln>
        </p:spPr>
      </p:sp>
      <p:sp>
        <p:nvSpPr>
          <p:cNvPr id="7" name="st-running-text"/>
          <p:cNvSpPr txBox="1"/>
          <p:nvPr/>
        </p:nvSpPr>
        <p:spPr>
          <a:xfrm>
            <a:off x="5016500" y="1524000"/>
            <a:ext cx="215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4283C"/>
                </a:solidFill>
                <a:latin typeface="MiSans"/>
                <a:ea typeface="MiSans"/>
              </a:rPr>
              <a:t>执行中（running）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6B7683"/>
                </a:solidFill>
                <a:latin typeface="MiSans"/>
                <a:ea typeface="MiSans"/>
              </a:rPr>
              <a:t>会话存在 · 自动推进</a:t>
            </a:r>
            <a:endParaRPr lang="en-US" sz="1400" noProof="1"/>
          </a:p>
        </p:txBody>
      </p:sp>
      <p:sp>
        <p:nvSpPr>
          <p:cNvPr id="8" name="st-stopped"/>
          <p:cNvSpPr/>
          <p:nvPr/>
        </p:nvSpPr>
        <p:spPr>
          <a:xfrm>
            <a:off x="9144000" y="1524000"/>
            <a:ext cx="2159000" cy="736600"/>
          </a:xfrm>
          <a:prstGeom prst="rect">
            <a:avLst/>
          </a:prstGeom>
          <a:solidFill>
            <a:srgbClr val="FBEDEA"/>
          </a:solidFill>
          <a:ln w="19050">
            <a:solidFill>
              <a:srgbClr val="C0392B"/>
            </a:solidFill>
          </a:ln>
        </p:spPr>
      </p:sp>
      <p:sp>
        <p:nvSpPr>
          <p:cNvPr id="9" name="st-stopped-text"/>
          <p:cNvSpPr txBox="1"/>
          <p:nvPr/>
        </p:nvSpPr>
        <p:spPr>
          <a:xfrm>
            <a:off x="9144000" y="1524000"/>
            <a:ext cx="215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4283C"/>
                </a:solidFill>
                <a:latin typeface="MiSans"/>
                <a:ea typeface="MiSans"/>
              </a:rPr>
              <a:t>异常（abnormal）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6B7683"/>
                </a:solidFill>
                <a:latin typeface="MiSans"/>
                <a:ea typeface="MiSans"/>
              </a:rPr>
              <a:t>当前工步标记异常 · 会话释放</a:t>
            </a:r>
            <a:endParaRPr lang="en-US" sz="1400" noProof="1"/>
          </a:p>
        </p:txBody>
      </p:sp>
      <p:sp>
        <p:nvSpPr>
          <p:cNvPr id="10" name="st-paused"/>
          <p:cNvSpPr/>
          <p:nvPr/>
        </p:nvSpPr>
        <p:spPr>
          <a:xfrm>
            <a:off x="5016500" y="3683000"/>
            <a:ext cx="2159000" cy="736600"/>
          </a:xfrm>
          <a:prstGeom prst="rect">
            <a:avLst/>
          </a:prstGeom>
          <a:solidFill>
            <a:srgbClr val="FBF3E2"/>
          </a:solidFill>
          <a:ln w="19050">
            <a:solidFill>
              <a:srgbClr val="B7791F"/>
            </a:solidFill>
          </a:ln>
        </p:spPr>
      </p:sp>
      <p:sp>
        <p:nvSpPr>
          <p:cNvPr id="11" name="st-paused-text"/>
          <p:cNvSpPr txBox="1"/>
          <p:nvPr/>
        </p:nvSpPr>
        <p:spPr>
          <a:xfrm>
            <a:off x="5016500" y="3683000"/>
            <a:ext cx="215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4283C"/>
                </a:solidFill>
                <a:latin typeface="MiSans"/>
                <a:ea typeface="MiSans"/>
              </a:rPr>
              <a:t>暂停（paused）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6B7683"/>
                </a:solidFill>
                <a:latin typeface="MiSans"/>
                <a:ea typeface="MiSans"/>
              </a:rPr>
              <a:t>当前工步执行完后停住</a:t>
            </a:r>
            <a:endParaRPr lang="en-US" sz="1400" noProof="1"/>
          </a:p>
        </p:txBody>
      </p:sp>
      <p:sp>
        <p:nvSpPr>
          <p:cNvPr id="12" name="st-done"/>
          <p:cNvSpPr/>
          <p:nvPr/>
        </p:nvSpPr>
        <p:spPr>
          <a:xfrm>
            <a:off x="889000" y="3683000"/>
            <a:ext cx="2159000" cy="736600"/>
          </a:xfrm>
          <a:prstGeom prst="rect">
            <a:avLst/>
          </a:prstGeom>
          <a:solidFill>
            <a:srgbClr val="EBF3ED"/>
          </a:solidFill>
          <a:ln w="19050">
            <a:solidFill>
              <a:srgbClr val="2E7D4F"/>
            </a:solidFill>
          </a:ln>
        </p:spPr>
      </p:sp>
      <p:sp>
        <p:nvSpPr>
          <p:cNvPr id="13" name="st-done-text"/>
          <p:cNvSpPr txBox="1"/>
          <p:nvPr/>
        </p:nvSpPr>
        <p:spPr>
          <a:xfrm>
            <a:off x="889000" y="3683000"/>
            <a:ext cx="215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14283C"/>
                </a:solidFill>
                <a:latin typeface="MiSans"/>
                <a:ea typeface="MiSans"/>
              </a:rPr>
              <a:t>完成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6B7683"/>
                </a:solidFill>
                <a:latin typeface="MiSans"/>
                <a:ea typeface="MiSans"/>
              </a:rPr>
              <a:t>全部工步执行完毕</a:t>
            </a:r>
            <a:endParaRPr lang="en-US" sz="1400" noProof="1"/>
          </a:p>
        </p:txBody>
      </p:sp>
      <p:sp>
        <p:nvSpPr>
          <p:cNvPr id="14" name="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eyJ2aWV3Qm94IjpbMTQ3LDhdLCJwb2ludHMiOiIwLDQgMTQ3LDQiLCJjdXJ2ZSI6InNoYXJwIn0</pptd:line>
              </p:ext>
            </p:extLst>
          </p:nvPr>
        </p:nvSpPr>
        <p:spPr>
          <a:xfrm>
            <a:off x="3098800" y="1841500"/>
            <a:ext cx="1866900" cy="101600"/>
          </a:xfrm>
          <a:custGeom>
            <a:avLst/>
            <a:gdLst/>
            <a:ahLst/>
            <a:cxnLst/>
            <a:rect l="l" t="t" r="r" b="b"/>
            <a:pathLst>
              <a:path w="147" h="8">
                <a:moveTo>
                  <a:pt x="0" y="4"/>
                </a:moveTo>
                <a:lnTo>
                  <a:pt x="147" y="4"/>
                </a:lnTo>
              </a:path>
            </a:pathLst>
          </a:custGeom>
          <a:noFill/>
          <a:ln w="19050">
            <a:solidFill>
              <a:srgbClr val="0F5E5A"/>
            </a:solidFill>
            <a:tailEnd type="arrow"/>
          </a:ln>
        </p:spPr>
      </p:sp>
      <p:sp>
        <p:nvSpPr>
          <p:cNvPr id="15" name="a1-label"/>
          <p:cNvSpPr txBox="1"/>
          <p:nvPr/>
        </p:nvSpPr>
        <p:spPr>
          <a:xfrm>
            <a:off x="2819400" y="12446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点击「执行 / 自动执行 / 单步执行」</a:t>
            </a:r>
            <a:endParaRPr lang="en-US" sz="1000" noProof="1"/>
          </a:p>
          <a:p>
            <a:pPr algn="ctr"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起点 = 当前进度工步（首次为首工步）</a:t>
            </a:r>
            <a:endParaRPr lang="en-US" sz="1000" noProof="1"/>
          </a:p>
        </p:txBody>
      </p:sp>
      <p:sp>
        <p:nvSpPr>
          <p:cNvPr id="16" name="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eyJ2aWV3Qm94IjpbOCwxMDRdLCJwb2ludHMiOiI0LDAgNCwxMDQiLCJjdXJ2ZSI6InNoYXJwIn0</pptd:line>
              </p:ext>
            </p:extLst>
          </p:nvPr>
        </p:nvSpPr>
        <p:spPr>
          <a:xfrm>
            <a:off x="6375400" y="2311400"/>
            <a:ext cx="101600" cy="1320800"/>
          </a:xfrm>
          <a:custGeom>
            <a:avLst/>
            <a:gdLst/>
            <a:ahLst/>
            <a:cxnLst/>
            <a:rect l="l" t="t" r="r" b="b"/>
            <a:pathLst>
              <a:path w="8" h="104">
                <a:moveTo>
                  <a:pt x="4" y="0"/>
                </a:moveTo>
                <a:lnTo>
                  <a:pt x="4" y="104"/>
                </a:lnTo>
              </a:path>
            </a:pathLst>
          </a:custGeom>
          <a:noFill/>
          <a:ln w="19050">
            <a:solidFill>
              <a:srgbClr val="B7791F"/>
            </a:solidFill>
            <a:tailEnd type="arrow"/>
          </a:ln>
        </p:spPr>
      </p:sp>
      <p:sp>
        <p:nvSpPr>
          <p:cNvPr id="17" name="a2-label"/>
          <p:cNvSpPr txBox="1"/>
          <p:nvPr/>
        </p:nvSpPr>
        <p:spPr>
          <a:xfrm>
            <a:off x="6604000" y="2641600"/>
            <a:ext cx="165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暂停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执行完当前工步后停住</a:t>
            </a:r>
            <a:endParaRPr lang="en-US" sz="1000" noProof="1"/>
          </a:p>
        </p:txBody>
      </p:sp>
      <p:sp>
        <p:nvSpPr>
          <p:cNvPr id="18" name="a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eyJ2aWV3Qm94IjpbOCwxMDRdLCJwb2ludHMiOiI0LDEwNCA0LDAiLCJjdXJ2ZSI6InNoYXJwIn0</pptd:line>
              </p:ext>
            </p:extLst>
          </p:nvPr>
        </p:nvSpPr>
        <p:spPr>
          <a:xfrm>
            <a:off x="5715000" y="2311400"/>
            <a:ext cx="101600" cy="1320800"/>
          </a:xfrm>
          <a:custGeom>
            <a:avLst/>
            <a:gdLst/>
            <a:ahLst/>
            <a:cxnLst/>
            <a:rect l="l" t="t" r="r" b="b"/>
            <a:pathLst>
              <a:path w="8" h="104">
                <a:moveTo>
                  <a:pt x="4" y="104"/>
                </a:moveTo>
                <a:lnTo>
                  <a:pt x="4" y="0"/>
                </a:lnTo>
              </a:path>
            </a:pathLst>
          </a:custGeom>
          <a:noFill/>
          <a:ln w="19050">
            <a:solidFill>
              <a:srgbClr val="0F5E5A"/>
            </a:solidFill>
            <a:tailEnd type="arrow"/>
          </a:ln>
        </p:spPr>
      </p:sp>
      <p:sp>
        <p:nvSpPr>
          <p:cNvPr id="19" name="a3-label"/>
          <p:cNvSpPr txBox="1"/>
          <p:nvPr/>
        </p:nvSpPr>
        <p:spPr>
          <a:xfrm>
            <a:off x="3683000" y="2641600"/>
            <a:ext cx="1930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执行（恢复）</a:t>
            </a:r>
            <a:endParaRPr lang="en-US" sz="1000" noProof="1"/>
          </a:p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从下一工步继续推进</a:t>
            </a:r>
            <a:endParaRPr lang="en-US" sz="1000" noProof="1"/>
          </a:p>
        </p:txBody>
      </p:sp>
      <p:sp>
        <p:nvSpPr>
          <p:cNvPr id="20" name="a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eyJ2aWV3Qm94IjpbMTQ3LDhdLCJwb2ludHMiOiIwLDQgMTQ3LDQiLCJjdXJ2ZSI6InNoYXJwIn0</pptd:line>
              </p:ext>
            </p:extLst>
          </p:nvPr>
        </p:nvSpPr>
        <p:spPr>
          <a:xfrm>
            <a:off x="7226300" y="1689100"/>
            <a:ext cx="1866900" cy="101600"/>
          </a:xfrm>
          <a:custGeom>
            <a:avLst/>
            <a:gdLst/>
            <a:ahLst/>
            <a:cxnLst/>
            <a:rect l="l" t="t" r="r" b="b"/>
            <a:pathLst>
              <a:path w="147" h="8">
                <a:moveTo>
                  <a:pt x="0" y="4"/>
                </a:moveTo>
                <a:lnTo>
                  <a:pt x="147" y="4"/>
                </a:lnTo>
              </a:path>
            </a:pathLst>
          </a:custGeom>
          <a:noFill/>
          <a:ln w="19050">
            <a:solidFill>
              <a:srgbClr val="C0392B"/>
            </a:solidFill>
            <a:tailEnd type="arrow"/>
          </a:ln>
        </p:spPr>
      </p:sp>
      <p:sp>
        <p:nvSpPr>
          <p:cNvPr id="21" name="a4-label"/>
          <p:cNvSpPr txBox="1"/>
          <p:nvPr/>
        </p:nvSpPr>
        <p:spPr>
          <a:xfrm>
            <a:off x="6959600" y="11938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报错 / 人工急停（异常弹窗确认）</a:t>
            </a:r>
            <a:endParaRPr lang="en-US" sz="1000" noProof="1"/>
          </a:p>
          <a:p>
            <a:pPr algn="ctr"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当前工步标记异常 · 会话释放</a:t>
            </a:r>
            <a:endParaRPr lang="en-US" sz="1000" noProof="1"/>
          </a:p>
        </p:txBody>
      </p:sp>
      <p:sp>
        <p:nvSpPr>
          <p:cNvPr id="22" name="a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eyJ2aWV3Qm94IjpbMTgwLDEwOF0sInBvaW50cyI6IjAsMTA4IDE4MCwwIiwiY3VydmUiOiJzaGFycCJ9</pptd:line>
              </p:ext>
            </p:extLst>
          </p:nvPr>
        </p:nvSpPr>
        <p:spPr>
          <a:xfrm>
            <a:off x="7226300" y="2260600"/>
            <a:ext cx="2286000" cy="1371600"/>
          </a:xfrm>
          <a:custGeom>
            <a:avLst/>
            <a:gdLst/>
            <a:ahLst/>
            <a:cxnLst/>
            <a:rect l="l" t="t" r="r" b="b"/>
            <a:pathLst>
              <a:path w="180" h="108">
                <a:moveTo>
                  <a:pt x="0" y="108"/>
                </a:moveTo>
                <a:lnTo>
                  <a:pt x="180" y="0"/>
                </a:lnTo>
              </a:path>
            </a:pathLst>
          </a:custGeom>
          <a:noFill/>
          <a:ln w="19050">
            <a:solidFill>
              <a:srgbClr val="C0392B"/>
            </a:solidFill>
            <a:tailEnd type="arrow"/>
          </a:ln>
        </p:spPr>
      </p:sp>
      <p:sp>
        <p:nvSpPr>
          <p:cNvPr id="23" name="a5-label"/>
          <p:cNvSpPr txBox="1"/>
          <p:nvPr/>
        </p:nvSpPr>
        <p:spPr>
          <a:xfrm>
            <a:off x="7874000" y="3708400"/>
            <a:ext cx="215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异常处理：两侧等效</a:t>
            </a:r>
            <a:endParaRPr lang="en-US" sz="1000" noProof="1"/>
          </a:p>
        </p:txBody>
      </p:sp>
      <p:sp>
        <p:nvSpPr>
          <p:cNvPr id="24" name="a6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eyJ2aWV3Qm94IjpbMTQ3LDhdLCJwb2ludHMiOiIxNDcsNCAwLDQiLCJjdXJ2ZSI6InNoYXJwIn0</pptd:line>
              </p:ext>
            </p:extLst>
          </p:nvPr>
        </p:nvSpPr>
        <p:spPr>
          <a:xfrm>
            <a:off x="7226300" y="2044700"/>
            <a:ext cx="1866900" cy="101600"/>
          </a:xfrm>
          <a:custGeom>
            <a:avLst/>
            <a:gdLst/>
            <a:ahLst/>
            <a:cxnLst/>
            <a:rect l="l" t="t" r="r" b="b"/>
            <a:pathLst>
              <a:path w="147" h="8">
                <a:moveTo>
                  <a:pt x="147" y="4"/>
                </a:moveTo>
                <a:lnTo>
                  <a:pt x="0" y="4"/>
                </a:lnTo>
              </a:path>
            </a:pathLst>
          </a:custGeom>
          <a:noFill/>
          <a:ln w="19050">
            <a:solidFill>
              <a:srgbClr val="0F5E5A"/>
            </a:solidFill>
            <a:tailEnd type="arrow"/>
          </a:ln>
        </p:spPr>
      </p:sp>
      <p:sp>
        <p:nvSpPr>
          <p:cNvPr id="25" name="a6-label"/>
          <p:cNvSpPr txBox="1"/>
          <p:nvPr/>
        </p:nvSpPr>
        <p:spPr>
          <a:xfrm>
            <a:off x="7188200" y="22352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再次执行：从异常工步重做</a:t>
            </a:r>
            <a:endParaRPr lang="en-US" sz="1000" noProof="1"/>
          </a:p>
        </p:txBody>
      </p:sp>
      <p:sp>
        <p:nvSpPr>
          <p:cNvPr id="26" name="a7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eyJ2aWV3Qm94IjpbODg1LDMxMF0sInBvaW50cyI6Ijg4NSwyOSA4ODUsMzEwIDAsMzEwIDAsMjkgMzAsMjkiLCJjdXJ2ZSI6InNoYXJwIn0</pptd:line>
              </p:ext>
            </p:extLst>
          </p:nvPr>
        </p:nvSpPr>
        <p:spPr>
          <a:xfrm>
            <a:off x="508000" y="1524000"/>
            <a:ext cx="11239500" cy="3937000"/>
          </a:xfrm>
          <a:custGeom>
            <a:avLst/>
            <a:gdLst/>
            <a:ahLst/>
            <a:cxnLst/>
            <a:rect l="l" t="t" r="r" b="b"/>
            <a:pathLst>
              <a:path w="885" h="310">
                <a:moveTo>
                  <a:pt x="885" y="29"/>
                </a:moveTo>
                <a:lnTo>
                  <a:pt x="885" y="310"/>
                </a:lnTo>
                <a:lnTo>
                  <a:pt x="0" y="310"/>
                </a:lnTo>
                <a:lnTo>
                  <a:pt x="0" y="29"/>
                </a:lnTo>
                <a:lnTo>
                  <a:pt x="30" y="29"/>
                </a:lnTo>
              </a:path>
            </a:pathLst>
          </a:custGeom>
          <a:noFill/>
          <a:ln w="19050">
            <a:solidFill>
              <a:srgbClr val="6B7683"/>
            </a:solidFill>
            <a:prstDash val="dash"/>
            <a:tailEnd type="arrow"/>
          </a:ln>
        </p:spPr>
      </p:sp>
      <p:sp>
        <p:nvSpPr>
          <p:cNvPr id="27" name="a7-label"/>
          <p:cNvSpPr txBox="1"/>
          <p:nvPr/>
        </p:nvSpPr>
        <p:spPr>
          <a:xfrm>
            <a:off x="3556000" y="5588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初始化：状态全部清零，执行从最初开始（running / paused 下禁点）</a:t>
            </a:r>
            <a:endParaRPr lang="en-US" sz="1100" noProof="1"/>
          </a:p>
        </p:txBody>
      </p:sp>
      <p:sp>
        <p:nvSpPr>
          <p:cNvPr id="28" name="a8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eyJ2aWV3Qm94IjpbMTQ3LDEwNF0sInBvaW50cyI6IjE0NywwIDAsMTA0IiwiY3VydmUiOiJzaGFycCJ9</pptd:line>
              </p:ext>
            </p:extLst>
          </p:nvPr>
        </p:nvSpPr>
        <p:spPr>
          <a:xfrm>
            <a:off x="3098800" y="2311400"/>
            <a:ext cx="1866900" cy="1320800"/>
          </a:xfrm>
          <a:custGeom>
            <a:avLst/>
            <a:gdLst/>
            <a:ahLst/>
            <a:cxnLst/>
            <a:rect l="l" t="t" r="r" b="b"/>
            <a:pathLst>
              <a:path w="147" h="104">
                <a:moveTo>
                  <a:pt x="147" y="0"/>
                </a:moveTo>
                <a:lnTo>
                  <a:pt x="0" y="104"/>
                </a:lnTo>
              </a:path>
            </a:pathLst>
          </a:custGeom>
          <a:noFill/>
          <a:ln w="19050">
            <a:solidFill>
              <a:srgbClr val="2E7D4F"/>
            </a:solidFill>
            <a:tailEnd type="arrow"/>
          </a:ln>
        </p:spPr>
      </p:sp>
      <p:sp>
        <p:nvSpPr>
          <p:cNvPr id="29" name="a8-label"/>
          <p:cNvSpPr txBox="1"/>
          <p:nvPr/>
        </p:nvSpPr>
        <p:spPr>
          <a:xfrm>
            <a:off x="1219200" y="2895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全部工步执行完成</a:t>
            </a:r>
            <a:endParaRPr lang="en-US" sz="1000" noProof="1"/>
          </a:p>
        </p:txBody>
      </p:sp>
      <p:sp>
        <p:nvSpPr>
          <p:cNvPr id="30" name="bottom-note"/>
          <p:cNvSpPr txBox="1"/>
          <p:nvPr/>
        </p:nvSpPr>
        <p:spPr>
          <a:xfrm>
            <a:off x="635000" y="60706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A4652"/>
                </a:solidFill>
                <a:latin typeface="MiSans"/>
                <a:ea typeface="MiSans"/>
              </a:rPr>
              <a:t>互锁摘要：运行中 → 初始化禁点、非本会话执行按钮禁点；暂停仍视为运行中，初始化同样禁点，仅「执行（恢复）」与「停止」可点；停止（仅顶栏、互锁豁免）= 跳出执行状态，暂停态直接跳出、运行态先执行完当前工步再跳出，跳出后进入「已中断」态、进度保留可直接续跑；异常确认后当前工步标记异常、会话释放，可直接再次执行重做，无需初始化。</a:t>
            </a:r>
            <a:endParaRPr lang="en-US" sz="1200" noProof="1"/>
          </a:p>
        </p:txBody>
      </p:sp>
      <p:sp>
        <p:nvSpPr>
          <p:cNvPr id="31" name="footer"/>
          <p:cNvSpPr txBox="1"/>
          <p:nvPr/>
        </p:nvSpPr>
        <p:spPr>
          <a:xfrm>
            <a:off x="7620000" y="64770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北煤机拼装产线原型 · 执行控制逻辑 v3.1 · 03 / 06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431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4283C"/>
                </a:solidFill>
                <a:latin typeface="MiSans"/>
                <a:ea typeface="MiSans"/>
              </a:rPr>
              <a:t>互锁矩阵：任一时刻只有一个执行入口可用</a:t>
            </a:r>
            <a:endParaRPr lang="en-US" sz="2400" noProof="1"/>
          </a:p>
        </p:txBody>
      </p:sp>
      <p:sp>
        <p:nvSpPr>
          <p:cNvPr id="3" name="title-rule"/>
          <p:cNvSpPr/>
          <p:nvPr/>
        </p:nvSpPr>
        <p:spPr>
          <a:xfrm>
            <a:off x="635000" y="990600"/>
            <a:ext cx="10922000" cy="127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graphicFrame>
        <p:nvGraphicFramePr>
          <p:cNvPr id="4" name="matrix"/>
          <p:cNvGraphicFramePr>
            <a:graphicFrameLocks noGrp="1"/>
          </p:cNvGraphicFramePr>
          <p:nvPr/>
        </p:nvGraphicFramePr>
        <p:xfrm>
          <a:off x="635000" y="1270000"/>
          <a:ext cx="10922000" cy="4902200"/>
        </p:xfrm>
        <a:graphic>
          <a:graphicData uri="http://schemas.openxmlformats.org/drawingml/2006/table">
            <a:tbl>
              <a:tblPr/>
              <a:tblGrid>
                <a:gridCol w="240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当前任务状态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整线控制组（顶栏）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单站 · 自动 tab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单站 · 单步 tab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4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283C"/>
                          </a:solidFill>
                          <a:latin typeface="Times New Roman"/>
                          <a:ea typeface="Times New Roman"/>
                        </a:rPr>
                        <a:t>空闲 · 就绪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初始化　✓ 执行　停止✗（空闲置灰）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 初始化　</a:t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 自动执行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单步执行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283C"/>
                          </a:solidFill>
                          <a:latin typeface="Times New Roman"/>
                          <a:ea typeface="Times New Roman"/>
                        </a:rPr>
                        <a:t>整线执行中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暂停　✓ 停止　其余✗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全部置灰</a:t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置灰，不允许进入单步</a:t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283C"/>
                          </a:solidFill>
                          <a:latin typeface="Times New Roman"/>
                          <a:ea typeface="Times New Roman"/>
                        </a:rPr>
                        <a:t>单站自动执行中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仅停止✓（跳出执行状态）</a:t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暂停　初始化✗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仅查看：工步禁选、按钮</a:t>
                      </a:r>
                      <a:r>
                        <a:rPr lang="en-US" sz="1150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283C"/>
                          </a:solidFill>
                          <a:latin typeface="Times New Roman"/>
                          <a:ea typeface="Times New Roman"/>
                        </a:rPr>
                        <a:t>单站单步执行中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仅停止✓（跳出执行状态）</a:t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仅查看：按钮</a:t>
                      </a:r>
                      <a:r>
                        <a:rPr lang="en-US" sz="1150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单步执行✗（执行中）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283C"/>
                          </a:solidFill>
                          <a:latin typeface="Times New Roman"/>
                          <a:ea typeface="Times New Roman"/>
                        </a:rPr>
                        <a:t>暂停（仍视为运行中）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执行（恢复）　✓ 停止　初始化✗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执行（恢复）　初始化✗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仅查看：单步执行✗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C0392B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283C"/>
                          </a:solidFill>
                          <a:latin typeface="Times New Roman"/>
                          <a:ea typeface="Times New Roman"/>
                        </a:rPr>
                        <a:t>存在异常工步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初始化　✓ 执行（从异常工步重做）　停止✗（会话已释放）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初始化　✓ 自动执行（从进度工步续跑）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>✓ 单步执行（可选中异常步重做）</a:t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2E7D4F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283C"/>
                          </a:solidFill>
                          <a:latin typeface="Times New Roman"/>
                          <a:ea typeface="Times New Roman"/>
                        </a:rPr>
                        <a:t>执行中报错 / 急停弹窗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4652"/>
                          </a:solidFill>
                          <a:latin typeface="Times New Roman"/>
                          <a:ea typeface="Times New Roman"/>
                        </a:rPr>
                        <a:t>弹窗独占 → 确认后当前工步标记异常；排除故障后可直接再次执行重做，无需初始化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8DEE3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635000" y="6299200"/>
            <a:ext cx="1092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✓ 可点　✗ 置灰；停止仅整线顶栏提供，互锁豁免——执行会话期间（含单站会话）可点，用于跳出执行状态：暂停态直接跳出，运行态先执行完当前工步再跳出；跳出后任务进入「已中断」态、进度保留，可直接再执行续跑。中断共三种：软暂停、停止（跳出）、异常（报错/急停，弹窗确认后标记异常）。</a:t>
            </a:r>
            <a:endParaRPr lang="en-US" sz="1100" noProof="1"/>
          </a:p>
        </p:txBody>
      </p:sp>
      <p:sp>
        <p:nvSpPr>
          <p:cNvPr id="6" name="footer"/>
          <p:cNvSpPr txBox="1"/>
          <p:nvPr/>
        </p:nvSpPr>
        <p:spPr>
          <a:xfrm>
            <a:off x="7620000" y="64770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北煤机拼装产线原型 · 执行控制逻辑 v3.1 · 04 / 06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431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4283C"/>
                </a:solidFill>
                <a:latin typeface="MiSans"/>
                <a:ea typeface="MiSans"/>
              </a:rPr>
              <a:t>单步执行：前序校验 → 执行 → 状态回显</a:t>
            </a:r>
            <a:endParaRPr lang="en-US" sz="2400" noProof="1"/>
          </a:p>
        </p:txBody>
      </p:sp>
      <p:sp>
        <p:nvSpPr>
          <p:cNvPr id="3" name="title-rule"/>
          <p:cNvSpPr/>
          <p:nvPr/>
        </p:nvSpPr>
        <p:spPr>
          <a:xfrm>
            <a:off x="635000" y="990600"/>
            <a:ext cx="10922000" cy="127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4" name="n1"/>
          <p:cNvSpPr/>
          <p:nvPr/>
        </p:nvSpPr>
        <p:spPr>
          <a:xfrm>
            <a:off x="635000" y="2159000"/>
            <a:ext cx="1524000" cy="685800"/>
          </a:xfrm>
          <a:prstGeom prst="rect">
            <a:avLst/>
          </a:prstGeom>
          <a:solidFill>
            <a:srgbClr val="F4F6F7"/>
          </a:solidFill>
          <a:ln w="12700">
            <a:solidFill>
              <a:srgbClr val="6B7683"/>
            </a:solidFill>
          </a:ln>
        </p:spPr>
      </p:sp>
      <p:sp>
        <p:nvSpPr>
          <p:cNvPr id="5" name="n1-text"/>
          <p:cNvSpPr txBox="1"/>
          <p:nvPr/>
        </p:nvSpPr>
        <p:spPr>
          <a:xfrm>
            <a:off x="635000" y="2159000"/>
            <a:ext cx="15240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4283C"/>
                </a:solidFill>
                <a:latin typeface="MiSans"/>
                <a:ea typeface="MiSans"/>
              </a:rPr>
              <a:t>选中工步</a:t>
            </a:r>
            <a:endParaRPr lang="en-US" sz="1300" noProof="1"/>
          </a:p>
        </p:txBody>
      </p:sp>
      <p:sp>
        <p:nvSpPr>
          <p:cNvPr id="6" name="n2"/>
          <p:cNvSpPr/>
          <p:nvPr/>
        </p:nvSpPr>
        <p:spPr>
          <a:xfrm>
            <a:off x="2921000" y="2006600"/>
            <a:ext cx="24130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5E5A"/>
            </a:solidFill>
          </a:ln>
        </p:spPr>
      </p:sp>
      <p:sp>
        <p:nvSpPr>
          <p:cNvPr id="7" name="n2-text"/>
          <p:cNvSpPr txBox="1"/>
          <p:nvPr/>
        </p:nvSpPr>
        <p:spPr>
          <a:xfrm>
            <a:off x="3022600" y="2082800"/>
            <a:ext cx="22098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1100" b="1" noProof="1">
                <a:solidFill>
                  <a:srgbClr val="3A4652"/>
                </a:solidFill>
                <a:latin typeface="MiSans"/>
                <a:ea typeface="MiSans"/>
              </a:rPr>
              <a:t>前序工步校验</a:t>
            </a:r>
            <a:endParaRPr lang="en-US" sz="1100" noProof="1"/>
          </a:p>
          <a:p>
            <a:pPr algn="ctr">
              <a:lnSpc>
                <a:spcPct val="145000"/>
              </a:lnSpc>
            </a:pPr>
            <a:r>
              <a:rPr lang="en-US" sz="1100" noProof="1">
                <a:solidFill>
                  <a:srgbClr val="3A4652"/>
                </a:solidFill>
                <a:latin typeface="MiSans"/>
                <a:ea typeface="MiSans"/>
              </a:rPr>
              <a:t>仅人工跳选且前序存在未执行/异常时弹窗</a:t>
            </a:r>
            <a:endParaRPr lang="en-US" sz="1100" noProof="1"/>
          </a:p>
          <a:p>
            <a:pPr algn="ctr">
              <a:lnSpc>
                <a:spcPct val="145000"/>
              </a:lnSpc>
            </a:pPr>
            <a:r>
              <a:rPr lang="en-US" sz="1100" noProof="1">
                <a:solidFill>
                  <a:srgbClr val="0F5E5A"/>
                </a:solidFill>
                <a:latin typeface="MiSans"/>
                <a:ea typeface="MiSans"/>
              </a:rPr>
              <a:t>［仍要执行］　［取消］</a:t>
            </a:r>
            <a:r>
              <a:rPr lang="en-US" sz="1100" noProof="1">
                <a:solidFill>
                  <a:srgbClr val="3A4652"/>
                </a:solidFill>
                <a:latin typeface="MiSans"/>
                <a:ea typeface="MiSans"/>
              </a:rPr>
              <a:t/>
            </a:r>
            <a:endParaRPr lang="en-US" sz="1100" noProof="1"/>
          </a:p>
        </p:txBody>
      </p:sp>
      <p:sp>
        <p:nvSpPr>
          <p:cNvPr id="8" name="n3"/>
          <p:cNvSpPr/>
          <p:nvPr/>
        </p:nvSpPr>
        <p:spPr>
          <a:xfrm>
            <a:off x="6096000" y="2159000"/>
            <a:ext cx="1905000" cy="685800"/>
          </a:xfrm>
          <a:prstGeom prst="rect">
            <a:avLst/>
          </a:prstGeom>
          <a:solidFill>
            <a:srgbClr val="E9F1F0"/>
          </a:solidFill>
          <a:ln w="19050">
            <a:solidFill>
              <a:srgbClr val="0F5E5A"/>
            </a:solidFill>
          </a:ln>
        </p:spPr>
      </p:sp>
      <p:sp>
        <p:nvSpPr>
          <p:cNvPr id="9" name="n3-text"/>
          <p:cNvSpPr txBox="1"/>
          <p:nvPr/>
        </p:nvSpPr>
        <p:spPr>
          <a:xfrm>
            <a:off x="6096000" y="215900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noProof="1">
                <a:solidFill>
                  <a:srgbClr val="14283C"/>
                </a:solidFill>
                <a:latin typeface="MiSans"/>
                <a:ea typeface="MiSans"/>
              </a:rPr>
              <a:t>建立单步会话</a:t>
            </a:r>
            <a:endParaRPr lang="en-US" sz="1200" noProof="1"/>
          </a:p>
          <a:p>
            <a:pPr algn="ctr">
              <a:lnSpc>
                <a:spcPct val="140000"/>
              </a:lnSpc>
            </a:pPr>
            <a:r>
              <a:rPr lang="en-US" sz="1200" b="1" noProof="1">
                <a:solidFill>
                  <a:srgbClr val="14283C"/>
                </a:solidFill>
                <a:latin typeface="MiSans"/>
                <a:ea typeface="MiSans"/>
              </a:rPr>
              <a:t>执行该工步</a:t>
            </a:r>
            <a:endParaRPr lang="en-US" sz="1200" noProof="1"/>
          </a:p>
        </p:txBody>
      </p:sp>
      <p:sp>
        <p:nvSpPr>
          <p:cNvPr id="10" name="n4"/>
          <p:cNvSpPr/>
          <p:nvPr/>
        </p:nvSpPr>
        <p:spPr>
          <a:xfrm>
            <a:off x="8763000" y="2159000"/>
            <a:ext cx="2032000" cy="685800"/>
          </a:xfrm>
          <a:prstGeom prst="rect">
            <a:avLst/>
          </a:prstGeom>
          <a:solidFill>
            <a:srgbClr val="EBF3ED"/>
          </a:solidFill>
          <a:ln w="19050">
            <a:solidFill>
              <a:srgbClr val="2E7D4F"/>
            </a:solidFill>
          </a:ln>
        </p:spPr>
      </p:sp>
      <p:sp>
        <p:nvSpPr>
          <p:cNvPr id="11" name="n4-text"/>
          <p:cNvSpPr txBox="1"/>
          <p:nvPr/>
        </p:nvSpPr>
        <p:spPr>
          <a:xfrm>
            <a:off x="8763000" y="21590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noProof="1">
                <a:solidFill>
                  <a:srgbClr val="14283C"/>
                </a:solidFill>
                <a:latin typeface="MiSans"/>
                <a:ea typeface="MiSans"/>
              </a:rPr>
              <a:t>执行完成</a:t>
            </a:r>
            <a:endParaRPr lang="en-US" sz="1200" noProof="1"/>
          </a:p>
          <a:p>
            <a:pPr algn="ctr">
              <a:lnSpc>
                <a:spcPct val="140000"/>
              </a:lnSpc>
            </a:pPr>
            <a:r>
              <a:rPr lang="en-US" sz="1200" b="1" noProof="1">
                <a:solidFill>
                  <a:srgbClr val="14283C"/>
                </a:solidFill>
                <a:latin typeface="MiSans"/>
                <a:ea typeface="MiSans"/>
              </a:rPr>
              <a:t>进度 → 下一工步</a:t>
            </a:r>
            <a:endParaRPr lang="en-US" sz="1200" noProof="1"/>
          </a:p>
        </p:txBody>
      </p:sp>
      <p:sp>
        <p:nvSpPr>
          <p:cNvPr id="12" name="n5"/>
          <p:cNvSpPr/>
          <p:nvPr/>
        </p:nvSpPr>
        <p:spPr>
          <a:xfrm>
            <a:off x="5080000" y="4064000"/>
            <a:ext cx="3556000" cy="111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</p:spPr>
      </p:sp>
      <p:sp>
        <p:nvSpPr>
          <p:cNvPr id="13" name="n5-text"/>
          <p:cNvSpPr txBox="1"/>
          <p:nvPr/>
        </p:nvSpPr>
        <p:spPr>
          <a:xfrm>
            <a:off x="5207000" y="4165600"/>
            <a:ext cx="3302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100" b="1" noProof="1">
                <a:solidFill>
                  <a:srgbClr val="3A4652"/>
                </a:solidFill>
                <a:latin typeface="MiSans"/>
                <a:ea typeface="MiSans"/>
              </a:rPr>
              <a:t>工步状态回显</a:t>
            </a:r>
            <a:endParaRPr lang="en-US" sz="11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3A4652"/>
                </a:solidFill>
                <a:latin typeface="MiSans"/>
                <a:ea typeface="MiSans"/>
              </a:rPr>
              <a:t>该工步显示完成，进度推进到下一工步</a:t>
            </a:r>
            <a:endParaRPr lang="en-US" sz="11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0F5E5A"/>
                </a:solidFill>
                <a:latin typeface="MiSans"/>
                <a:ea typeface="MiSans"/>
              </a:rPr>
              <a:t>无结束弹窗</a:t>
            </a:r>
            <a:r>
              <a:rPr lang="en-US" sz="1100" noProof="1">
                <a:solidFill>
                  <a:srgbClr val="3A4652"/>
                </a:solidFill>
                <a:latin typeface="MiSans"/>
                <a:ea typeface="MiSans"/>
              </a:rPr>
              <a:t/>
            </a:r>
            <a:endParaRPr lang="en-US" sz="1100" noProof="1"/>
          </a:p>
        </p:txBody>
      </p:sp>
      <p:sp>
        <p:nvSpPr>
          <p:cNvPr id="14" name="f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eyJ2aWV3Qm94IjpbNTIsOF0sInBvaW50cyI6IjAsNCA1Miw0IiwiY3VydmUiOiJzaGFycCJ9</pptd:line>
              </p:ext>
            </p:extLst>
          </p:nvPr>
        </p:nvSpPr>
        <p:spPr>
          <a:xfrm>
            <a:off x="2209800" y="2451100"/>
            <a:ext cx="660400" cy="101600"/>
          </a:xfrm>
          <a:custGeom>
            <a:avLst/>
            <a:gdLst/>
            <a:ahLst/>
            <a:cxnLst/>
            <a:rect l="l" t="t" r="r" b="b"/>
            <a:pathLst>
              <a:path w="52" h="8">
                <a:moveTo>
                  <a:pt x="0" y="4"/>
                </a:moveTo>
                <a:lnTo>
                  <a:pt x="52" y="4"/>
                </a:lnTo>
              </a:path>
            </a:pathLst>
          </a:custGeom>
          <a:noFill/>
          <a:ln w="19050">
            <a:solidFill>
              <a:srgbClr val="0F5E5A"/>
            </a:solidFill>
            <a:tailEnd type="arrow"/>
          </a:ln>
        </p:spPr>
      </p:sp>
      <p:sp>
        <p:nvSpPr>
          <p:cNvPr id="15" name="f1-label"/>
          <p:cNvSpPr txBox="1"/>
          <p:nvPr/>
        </p:nvSpPr>
        <p:spPr>
          <a:xfrm>
            <a:off x="1778000" y="18542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点击「执行工步」</a:t>
            </a:r>
            <a:endParaRPr lang="en-US" sz="1000" noProof="1"/>
          </a:p>
        </p:txBody>
      </p:sp>
      <p:sp>
        <p:nvSpPr>
          <p:cNvPr id="16" name="f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eyJ2aWV3Qm94IjpbNTIsOF0sInBvaW50cyI6IjAsNCA1Miw0IiwiY3VydmUiOiJzaGFycCJ9</pptd:line>
              </p:ext>
            </p:extLst>
          </p:nvPr>
        </p:nvSpPr>
        <p:spPr>
          <a:xfrm>
            <a:off x="5384800" y="2451100"/>
            <a:ext cx="660400" cy="101600"/>
          </a:xfrm>
          <a:custGeom>
            <a:avLst/>
            <a:gdLst/>
            <a:ahLst/>
            <a:cxnLst/>
            <a:rect l="l" t="t" r="r" b="b"/>
            <a:pathLst>
              <a:path w="52" h="8">
                <a:moveTo>
                  <a:pt x="0" y="4"/>
                </a:moveTo>
                <a:lnTo>
                  <a:pt x="52" y="4"/>
                </a:lnTo>
              </a:path>
            </a:pathLst>
          </a:custGeom>
          <a:noFill/>
          <a:ln w="19050">
            <a:solidFill>
              <a:srgbClr val="0F5E5A"/>
            </a:solidFill>
            <a:tailEnd type="arrow"/>
          </a:ln>
        </p:spPr>
      </p:sp>
      <p:sp>
        <p:nvSpPr>
          <p:cNvPr id="17" name="f2-label"/>
          <p:cNvSpPr txBox="1"/>
          <p:nvPr/>
        </p:nvSpPr>
        <p:spPr>
          <a:xfrm>
            <a:off x="5257800" y="1854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前序非完成：弹窗确认</a:t>
            </a:r>
            <a:endParaRPr lang="en-US" sz="1000" noProof="1"/>
          </a:p>
        </p:txBody>
      </p:sp>
      <p:sp>
        <p:nvSpPr>
          <p:cNvPr id="18" name="f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eyJ2aWV3Qm94IjpbNTIsOF0sInBvaW50cyI6IjAsNCA1Miw0IiwiY3VydmUiOiJzaGFycCJ9</pptd:line>
              </p:ext>
            </p:extLst>
          </p:nvPr>
        </p:nvSpPr>
        <p:spPr>
          <a:xfrm>
            <a:off x="8051800" y="2451100"/>
            <a:ext cx="660400" cy="101600"/>
          </a:xfrm>
          <a:custGeom>
            <a:avLst/>
            <a:gdLst/>
            <a:ahLst/>
            <a:cxnLst/>
            <a:rect l="l" t="t" r="r" b="b"/>
            <a:pathLst>
              <a:path w="52" h="8">
                <a:moveTo>
                  <a:pt x="0" y="4"/>
                </a:moveTo>
                <a:lnTo>
                  <a:pt x="52" y="4"/>
                </a:lnTo>
              </a:path>
            </a:pathLst>
          </a:custGeom>
          <a:noFill/>
          <a:ln w="19050">
            <a:solidFill>
              <a:srgbClr val="0F5E5A"/>
            </a:solidFill>
            <a:tailEnd type="arrow"/>
          </a:ln>
        </p:spPr>
      </p:sp>
      <p:sp>
        <p:nvSpPr>
          <p:cNvPr id="19" name="f-cancel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eyJ2aWV3Qm94IjpbMjE1LDQ0XSwicG9pbnRzIjoiMjE1LDIgMjE1LDQyIDIsNDIgMiwyIiwiY3VydmUiOiJzaGFycCJ9</pptd:line>
              </p:ext>
            </p:extLst>
          </p:nvPr>
        </p:nvSpPr>
        <p:spPr>
          <a:xfrm>
            <a:off x="1397000" y="2971800"/>
            <a:ext cx="2730500" cy="558800"/>
          </a:xfrm>
          <a:custGeom>
            <a:avLst/>
            <a:gdLst/>
            <a:ahLst/>
            <a:cxnLst/>
            <a:rect l="l" t="t" r="r" b="b"/>
            <a:pathLst>
              <a:path w="215" h="44">
                <a:moveTo>
                  <a:pt x="215" y="2"/>
                </a:moveTo>
                <a:lnTo>
                  <a:pt x="215" y="42"/>
                </a:lnTo>
                <a:lnTo>
                  <a:pt x="2" y="42"/>
                </a:lnTo>
                <a:lnTo>
                  <a:pt x="2" y="2"/>
                </a:lnTo>
              </a:path>
            </a:pathLst>
          </a:custGeom>
          <a:noFill/>
          <a:ln w="15240">
            <a:solidFill>
              <a:srgbClr val="6B7683"/>
            </a:solidFill>
            <a:prstDash val="dash"/>
            <a:tailEnd type="arrow"/>
          </a:ln>
        </p:spPr>
      </p:sp>
      <p:sp>
        <p:nvSpPr>
          <p:cNvPr id="20" name="f-cancel-label"/>
          <p:cNvSpPr txBox="1"/>
          <p:nvPr/>
        </p:nvSpPr>
        <p:spPr>
          <a:xfrm>
            <a:off x="1778000" y="3581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取消：不执行该工步</a:t>
            </a:r>
            <a:endParaRPr lang="en-US" sz="1000" noProof="1"/>
          </a:p>
        </p:txBody>
      </p:sp>
      <p:sp>
        <p:nvSpPr>
          <p:cNvPr id="22" name="f4-label"/>
          <p:cNvSpPr txBox="1"/>
          <p:nvPr/>
        </p:nvSpPr>
        <p:spPr>
          <a:xfrm>
            <a:off x="9906000" y="38354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完成一工步</a:t>
            </a:r>
            <a:endParaRPr lang="en-US" sz="1000" noProof="1"/>
          </a:p>
        </p:txBody>
      </p:sp>
      <p:sp>
        <p:nvSpPr>
          <p:cNvPr id="24" name="f5-label"/>
          <p:cNvSpPr txBox="1"/>
          <p:nvPr/>
        </p:nvSpPr>
        <p:spPr>
          <a:xfrm>
            <a:off x="5384800" y="3300952"/>
            <a:ext cx="157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顺序执行下一工步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点击「单步执行」直接执行</a:t>
            </a:r>
            <a:endParaRPr lang="en-US" sz="1000" noProof="1"/>
          </a:p>
        </p:txBody>
      </p:sp>
      <p:sp>
        <p:nvSpPr>
          <p:cNvPr id="25" name="bottom-note"/>
          <p:cNvSpPr txBox="1"/>
          <p:nvPr/>
        </p:nvSpPr>
        <p:spPr>
          <a:xfrm>
            <a:off x="635000" y="56642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3A4652"/>
                </a:solidFill>
                <a:latin typeface="MiSans"/>
                <a:ea typeface="MiSans"/>
              </a:rPr>
              <a:t>① 单步 tab 仅保留「单步执行」一个按钮（无初始化/暂停），执行状态由工步状态回显；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3A4652"/>
                </a:solidFill>
                <a:latin typeface="MiSans"/>
                <a:ea typeface="MiSans"/>
              </a:rPr>
              <a:t>② 执行「精定位 / 导入工件位置」工步时，先走定位方式弹窗（已有交互，保留）；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3A4652"/>
                </a:solidFill>
                <a:latin typeface="MiSans"/>
                <a:ea typeface="MiSans"/>
              </a:rPr>
              <a:t>③ 单步每完成一工步即推进进度，随时可切到自动执行续跑。</a:t>
            </a:r>
            <a:endParaRPr lang="en-US" sz="1200" noProof="1"/>
          </a:p>
        </p:txBody>
      </p:sp>
      <p:sp>
        <p:nvSpPr>
          <p:cNvPr id="26" name="footer"/>
          <p:cNvSpPr txBox="1"/>
          <p:nvPr/>
        </p:nvSpPr>
        <p:spPr>
          <a:xfrm>
            <a:off x="7620000" y="64770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北煤机拼装产线原型 · 执行控制逻辑 v3.1 · 05 / 06</a:t>
            </a:r>
            <a:endParaRPr lang="en-US" sz="1100" noProof="1"/>
          </a:p>
        </p:txBody>
      </p:sp>
      <p:sp>
        <p:nvSpPr>
          <p:cNvPr id="27" name="f2">
            <a:extLst>
              <a:ext uri="{FF2B5EF4-FFF2-40B4-BE49-F238E27FC236}">
                <a16:creationId xmlns:a16="http://schemas.microsoft.com/office/drawing/2014/main" id="{6D10E66B-1405-668D-3D4D-2F295436DEC6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eyJ2aWV3Qm94IjpbNTIsOF0sInBvaW50cyI6IjAsNCA1Miw0IiwiY3VydmUiOiJzaGFycCJ9</pptd:line>
              </p:ext>
            </p:extLst>
          </p:nvPr>
        </p:nvSpPr>
        <p:spPr>
          <a:xfrm rot="16200000">
            <a:off x="6527802" y="3403601"/>
            <a:ext cx="1117599" cy="50799"/>
          </a:xfrm>
          <a:custGeom>
            <a:avLst/>
            <a:gdLst/>
            <a:ahLst/>
            <a:cxnLst/>
            <a:rect l="l" t="t" r="r" b="b"/>
            <a:pathLst>
              <a:path w="52" h="8">
                <a:moveTo>
                  <a:pt x="0" y="4"/>
                </a:moveTo>
                <a:lnTo>
                  <a:pt x="52" y="4"/>
                </a:lnTo>
              </a:path>
            </a:pathLst>
          </a:custGeom>
          <a:noFill/>
          <a:ln w="19050">
            <a:solidFill>
              <a:srgbClr val="0F5E5A"/>
            </a:solidFill>
            <a:tailEnd type="arrow"/>
          </a:ln>
        </p:spPr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386BAF5-8C55-9714-BEE0-E55E5BBA894B}"/>
              </a:ext>
            </a:extLst>
          </p:cNvPr>
          <p:cNvCxnSpPr>
            <a:stCxn id="11" idx="2"/>
            <a:endCxn id="12" idx="3"/>
          </p:cNvCxnSpPr>
          <p:nvPr/>
        </p:nvCxnSpPr>
        <p:spPr>
          <a:xfrm rot="5400000">
            <a:off x="8318500" y="3162300"/>
            <a:ext cx="1778000" cy="1143000"/>
          </a:xfrm>
          <a:prstGeom prst="bentConnector2">
            <a:avLst/>
          </a:prstGeom>
          <a:ln w="12700">
            <a:solidFill>
              <a:srgbClr val="0F5E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431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4283C"/>
                </a:solidFill>
                <a:latin typeface="MiSans"/>
                <a:ea typeface="MiSans"/>
              </a:rPr>
              <a:t>暂停与异常：仅有的两种中断方式</a:t>
            </a:r>
            <a:endParaRPr lang="en-US" sz="2400" noProof="1"/>
          </a:p>
        </p:txBody>
      </p:sp>
      <p:sp>
        <p:nvSpPr>
          <p:cNvPr id="3" name="title-rule"/>
          <p:cNvSpPr/>
          <p:nvPr/>
        </p:nvSpPr>
        <p:spPr>
          <a:xfrm>
            <a:off x="635000" y="990600"/>
            <a:ext cx="10922000" cy="127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4" name="left-title"/>
          <p:cNvSpPr txBox="1"/>
          <p:nvPr/>
        </p:nvSpPr>
        <p:spPr>
          <a:xfrm>
            <a:off x="635000" y="1320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4283C"/>
                </a:solidFill>
                <a:latin typeface="MiSans"/>
                <a:ea typeface="MiSans"/>
              </a:rPr>
              <a:t>暂停与异常的区别</a:t>
            </a:r>
            <a:endParaRPr lang="en-US" sz="1400" noProof="1"/>
          </a:p>
        </p:txBody>
      </p:sp>
      <p:sp>
        <p:nvSpPr>
          <p:cNvPr id="5" name="pause-dot"/>
          <p:cNvSpPr/>
          <p:nvPr/>
        </p:nvSpPr>
        <p:spPr>
          <a:xfrm>
            <a:off x="635000" y="1803400"/>
            <a:ext cx="152400" cy="15240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6" name="pause-title"/>
          <p:cNvSpPr txBox="1"/>
          <p:nvPr/>
        </p:nvSpPr>
        <p:spPr>
          <a:xfrm>
            <a:off x="939800" y="17526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4283C"/>
                </a:solidFill>
                <a:latin typeface="MiSans"/>
                <a:ea typeface="MiSans"/>
              </a:rPr>
              <a:t>暂停 —— 软暂停</a:t>
            </a:r>
            <a:endParaRPr lang="en-US" sz="1300" noProof="1"/>
          </a:p>
        </p:txBody>
      </p:sp>
      <p:sp>
        <p:nvSpPr>
          <p:cNvPr id="7" name="pause-body"/>
          <p:cNvSpPr txBox="1"/>
          <p:nvPr/>
        </p:nvSpPr>
        <p:spPr>
          <a:xfrm>
            <a:off x="939800" y="2057400"/>
            <a:ext cx="4775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A4652"/>
                </a:solidFill>
                <a:latin typeface="MiSans"/>
                <a:ea typeface="MiSans"/>
              </a:rPr>
              <a:t>不打断当前工步：系统自动把当前工步执行完（状态显示完成）后停住；会话保留，初始化仍禁点，点「执行」从下一工步继续。</a:t>
            </a:r>
            <a:endParaRPr lang="en-US" sz="1300" noProof="1"/>
          </a:p>
        </p:txBody>
      </p:sp>
      <p:sp>
        <p:nvSpPr>
          <p:cNvPr id="8" name="left-rule"/>
          <p:cNvSpPr/>
          <p:nvPr/>
        </p:nvSpPr>
        <p:spPr>
          <a:xfrm>
            <a:off x="635000" y="3175000"/>
            <a:ext cx="5080000" cy="127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9" name="stop-dot"/>
          <p:cNvSpPr/>
          <p:nvPr/>
        </p:nvSpPr>
        <p:spPr>
          <a:xfrm>
            <a:off x="635000" y="3454400"/>
            <a:ext cx="152400" cy="1524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10" name="stop-title"/>
          <p:cNvSpPr txBox="1"/>
          <p:nvPr/>
        </p:nvSpPr>
        <p:spPr>
          <a:xfrm>
            <a:off x="939800" y="34036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4283C"/>
                </a:solidFill>
                <a:latin typeface="MiSans"/>
                <a:ea typeface="MiSans"/>
              </a:rPr>
              <a:t>异常 —— 报错 / 急停</a:t>
            </a:r>
            <a:endParaRPr lang="en-US" sz="1300" noProof="1"/>
          </a:p>
        </p:txBody>
      </p:sp>
      <p:sp>
        <p:nvSpPr>
          <p:cNvPr id="11" name="stop-body"/>
          <p:cNvSpPr txBox="1"/>
          <p:nvPr/>
        </p:nvSpPr>
        <p:spPr>
          <a:xfrm>
            <a:off x="939800" y="3708400"/>
            <a:ext cx="4775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A4652"/>
                </a:solidFill>
                <a:latin typeface="MiSans"/>
                <a:ea typeface="MiSans"/>
              </a:rPr>
              <a:t>当前工步已做部分作废；该工步标记「异常」，会话释放；排除故障后可直接再次执行重做，或选中该步单步执行——均无需初始化。</a:t>
            </a:r>
            <a:endParaRPr lang="en-US" sz="1300" noProof="1"/>
          </a:p>
        </p:txBody>
      </p:sp>
      <p:sp>
        <p:nvSpPr>
          <p:cNvPr id="12" name="left-note"/>
          <p:cNvSpPr txBox="1"/>
          <p:nvPr/>
        </p:nvSpPr>
        <p:spPr>
          <a:xfrm>
            <a:off x="635000" y="5080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B7683"/>
                </a:solidFill>
                <a:latin typeface="MiSans"/>
                <a:ea typeface="MiSans"/>
              </a:rPr>
              <a:t>v3 起不再有「停止」按钮：暂停与异常是仅有的两种中断；异常由报错或人工急停触发，弹窗确认后标记异常。</a:t>
            </a:r>
            <a:endParaRPr lang="en-US" sz="1200" noProof="1"/>
          </a:p>
        </p:txBody>
      </p:sp>
      <p:sp>
        <p:nvSpPr>
          <p:cNvPr id="13" name="right-title"/>
          <p:cNvSpPr txBox="1"/>
          <p:nvPr/>
        </p:nvSpPr>
        <p:spPr>
          <a:xfrm>
            <a:off x="6477000" y="1320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4283C"/>
                </a:solidFill>
                <a:latin typeface="MiSans"/>
                <a:ea typeface="MiSans"/>
              </a:rPr>
              <a:t>异常处理流程</a:t>
            </a:r>
            <a:endParaRPr lang="en-US" sz="1400" noProof="1"/>
          </a:p>
        </p:txBody>
      </p:sp>
      <p:sp>
        <p:nvSpPr>
          <p:cNvPr id="14" name="s1"/>
          <p:cNvSpPr/>
          <p:nvPr/>
        </p:nvSpPr>
        <p:spPr>
          <a:xfrm>
            <a:off x="6477000" y="1701800"/>
            <a:ext cx="5080000" cy="533400"/>
          </a:xfrm>
          <a:prstGeom prst="rect">
            <a:avLst/>
          </a:prstGeom>
          <a:solidFill>
            <a:srgbClr val="F4F6F7"/>
          </a:solidFill>
          <a:ln w="12700">
            <a:solidFill>
              <a:srgbClr val="6B7683"/>
            </a:solidFill>
          </a:ln>
        </p:spPr>
      </p:sp>
      <p:sp>
        <p:nvSpPr>
          <p:cNvPr id="15" name="s1-text"/>
          <p:cNvSpPr txBox="1"/>
          <p:nvPr/>
        </p:nvSpPr>
        <p:spPr>
          <a:xfrm>
            <a:off x="6477000" y="1701800"/>
            <a:ext cx="508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4283C"/>
                </a:solidFill>
                <a:latin typeface="MiSans"/>
                <a:ea typeface="MiSans"/>
              </a:rPr>
              <a:t>执行中检测到报错 / 人工急停</a:t>
            </a:r>
            <a:endParaRPr lang="en-US" sz="1200" noProof="1"/>
          </a:p>
        </p:txBody>
      </p:sp>
      <p:sp>
        <p:nvSpPr>
          <p:cNvPr id="16" name="s2"/>
          <p:cNvSpPr/>
          <p:nvPr/>
        </p:nvSpPr>
        <p:spPr>
          <a:xfrm>
            <a:off x="6477000" y="2489200"/>
            <a:ext cx="5080000" cy="787400"/>
          </a:xfrm>
          <a:prstGeom prst="rect">
            <a:avLst/>
          </a:prstGeom>
          <a:solidFill>
            <a:srgbClr val="FBEDEA"/>
          </a:solidFill>
          <a:ln w="19050">
            <a:solidFill>
              <a:srgbClr val="C0392B"/>
            </a:solidFill>
          </a:ln>
        </p:spPr>
      </p:sp>
      <p:sp>
        <p:nvSpPr>
          <p:cNvPr id="17" name="s2-text"/>
          <p:cNvSpPr txBox="1"/>
          <p:nvPr/>
        </p:nvSpPr>
        <p:spPr>
          <a:xfrm>
            <a:off x="6604000" y="25654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1100" b="1" noProof="1">
                <a:solidFill>
                  <a:srgbClr val="3A4652"/>
                </a:solidFill>
                <a:latin typeface="MiSans"/>
                <a:ea typeface="MiSans"/>
              </a:rPr>
              <a:t>异常弹窗</a:t>
            </a:r>
            <a:r>
              <a:rPr lang="en-US" sz="1100" noProof="1">
                <a:solidFill>
                  <a:srgbClr val="3A4652"/>
                </a:solidFill>
                <a:latin typeface="MiSans"/>
                <a:ea typeface="MiSans"/>
              </a:rPr>
              <a:t>（区分整线 / 单站）</a:t>
            </a:r>
            <a:endParaRPr lang="en-US" sz="1100" noProof="1"/>
          </a:p>
          <a:p>
            <a:pPr algn="ctr">
              <a:lnSpc>
                <a:spcPct val="145000"/>
              </a:lnSpc>
            </a:pPr>
            <a:r>
              <a:rPr lang="en-US" sz="1100" noProof="1">
                <a:solidFill>
                  <a:srgbClr val="3A4652"/>
                </a:solidFill>
                <a:latin typeface="MiSans"/>
                <a:ea typeface="MiSans"/>
              </a:rPr>
              <a:t>回显工位、工件、异常工序与原因；无取消按钮</a:t>
            </a:r>
            <a:endParaRPr lang="en-US" sz="1100" noProof="1"/>
          </a:p>
        </p:txBody>
      </p:sp>
      <p:sp>
        <p:nvSpPr>
          <p:cNvPr id="18" name="s3"/>
          <p:cNvSpPr/>
          <p:nvPr/>
        </p:nvSpPr>
        <p:spPr>
          <a:xfrm>
            <a:off x="6477000" y="3530600"/>
            <a:ext cx="5080000" cy="533400"/>
          </a:xfrm>
          <a:prstGeom prst="rect">
            <a:avLst/>
          </a:prstGeom>
          <a:solidFill>
            <a:srgbClr val="F4F6F7"/>
          </a:solidFill>
          <a:ln w="12700">
            <a:solidFill>
              <a:srgbClr val="6B7683"/>
            </a:solidFill>
          </a:ln>
        </p:spPr>
      </p:sp>
      <p:sp>
        <p:nvSpPr>
          <p:cNvPr id="19" name="s3-text"/>
          <p:cNvSpPr txBox="1"/>
          <p:nvPr/>
        </p:nvSpPr>
        <p:spPr>
          <a:xfrm>
            <a:off x="6477000" y="3530600"/>
            <a:ext cx="508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4283C"/>
                </a:solidFill>
                <a:latin typeface="MiSans"/>
                <a:ea typeface="MiSans"/>
              </a:rPr>
              <a:t>确认 → 当前工步标记异常</a:t>
            </a:r>
            <a:endParaRPr lang="en-US" sz="1200" noProof="1"/>
          </a:p>
        </p:txBody>
      </p:sp>
      <p:sp>
        <p:nvSpPr>
          <p:cNvPr id="20" name="s4"/>
          <p:cNvSpPr/>
          <p:nvPr/>
        </p:nvSpPr>
        <p:spPr>
          <a:xfrm>
            <a:off x="6477000" y="4318000"/>
            <a:ext cx="5080000" cy="533400"/>
          </a:xfrm>
          <a:prstGeom prst="rect">
            <a:avLst/>
          </a:prstGeom>
          <a:solidFill>
            <a:srgbClr val="F4F6F7"/>
          </a:solidFill>
          <a:ln w="12700">
            <a:solidFill>
              <a:srgbClr val="6B7683"/>
            </a:solidFill>
          </a:ln>
        </p:spPr>
      </p:sp>
      <p:sp>
        <p:nvSpPr>
          <p:cNvPr id="21" name="s4-text"/>
          <p:cNvSpPr txBox="1"/>
          <p:nvPr/>
        </p:nvSpPr>
        <p:spPr>
          <a:xfrm>
            <a:off x="6477000" y="4318000"/>
            <a:ext cx="508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4283C"/>
                </a:solidFill>
                <a:latin typeface="MiSans"/>
                <a:ea typeface="MiSans"/>
              </a:rPr>
              <a:t>排除故障（含处理视觉异常数据）</a:t>
            </a:r>
            <a:endParaRPr lang="en-US" sz="1200" noProof="1"/>
          </a:p>
        </p:txBody>
      </p:sp>
      <p:sp>
        <p:nvSpPr>
          <p:cNvPr id="22" name="s5"/>
          <p:cNvSpPr/>
          <p:nvPr/>
        </p:nvSpPr>
        <p:spPr>
          <a:xfrm>
            <a:off x="6477000" y="5105400"/>
            <a:ext cx="5080000" cy="533400"/>
          </a:xfrm>
          <a:prstGeom prst="rect">
            <a:avLst/>
          </a:prstGeom>
          <a:solidFill>
            <a:srgbClr val="EBF3ED"/>
          </a:solidFill>
          <a:ln w="19050">
            <a:solidFill>
              <a:srgbClr val="2E7D4F"/>
            </a:solidFill>
          </a:ln>
        </p:spPr>
      </p:sp>
      <p:sp>
        <p:nvSpPr>
          <p:cNvPr id="23" name="s5-text"/>
          <p:cNvSpPr txBox="1"/>
          <p:nvPr/>
        </p:nvSpPr>
        <p:spPr>
          <a:xfrm>
            <a:off x="6477000" y="5105400"/>
            <a:ext cx="508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14283C"/>
                </a:solidFill>
                <a:latin typeface="MiSans"/>
                <a:ea typeface="MiSans"/>
              </a:rPr>
              <a:t>再次执行：从异常工步重做，无需初始化</a:t>
            </a:r>
            <a:endParaRPr lang="en-US" sz="1200" noProof="1"/>
          </a:p>
        </p:txBody>
      </p:sp>
      <p:sp>
        <p:nvSpPr>
          <p:cNvPr id="24" name="g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eyJ2aWV3Qm94IjpbOCwxNl0sInBvaW50cyI6IjQsMCA0LDE2IiwiY3VydmUiOiJzaGFycCJ9</pptd:line>
              </p:ext>
            </p:extLst>
          </p:nvPr>
        </p:nvSpPr>
        <p:spPr>
          <a:xfrm>
            <a:off x="8966200" y="22606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4" y="0"/>
                </a:moveTo>
                <a:lnTo>
                  <a:pt x="4" y="16"/>
                </a:lnTo>
              </a:path>
            </a:pathLst>
          </a:custGeom>
          <a:noFill/>
          <a:ln w="19050">
            <a:solidFill>
              <a:srgbClr val="C0392B"/>
            </a:solidFill>
            <a:tailEnd type="arrow"/>
          </a:ln>
        </p:spPr>
      </p:sp>
      <p:sp>
        <p:nvSpPr>
          <p:cNvPr id="25" name="g1-label"/>
          <p:cNvSpPr txBox="1"/>
          <p:nvPr/>
        </p:nvSpPr>
        <p:spPr>
          <a:xfrm>
            <a:off x="9194800" y="22606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确认：标记异常</a:t>
            </a:r>
            <a:endParaRPr lang="en-US" sz="1000" noProof="1"/>
          </a:p>
        </p:txBody>
      </p:sp>
      <p:sp>
        <p:nvSpPr>
          <p:cNvPr id="26" name="g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eyJ2aWV3Qm94IjpbOCwxNl0sInBvaW50cyI6IjQsMCA0LDE2IiwiY3VydmUiOiJzaGFycCJ9</pptd:line>
              </p:ext>
            </p:extLst>
          </p:nvPr>
        </p:nvSpPr>
        <p:spPr>
          <a:xfrm>
            <a:off x="8966200" y="33020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4" y="0"/>
                </a:moveTo>
                <a:lnTo>
                  <a:pt x="4" y="16"/>
                </a:lnTo>
              </a:path>
            </a:pathLst>
          </a:custGeom>
          <a:noFill/>
          <a:ln w="19050">
            <a:solidFill>
              <a:srgbClr val="3A4652"/>
            </a:solidFill>
            <a:tailEnd type="arrow"/>
          </a:ln>
        </p:spPr>
      </p:sp>
      <p:sp>
        <p:nvSpPr>
          <p:cNvPr id="27" name="g2-label"/>
          <p:cNvSpPr txBox="1"/>
          <p:nvPr/>
        </p:nvSpPr>
        <p:spPr>
          <a:xfrm>
            <a:off x="9194800" y="3302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会话释放 · 工步标记异常</a:t>
            </a:r>
            <a:endParaRPr lang="en-US" sz="1000" noProof="1"/>
          </a:p>
        </p:txBody>
      </p:sp>
      <p:sp>
        <p:nvSpPr>
          <p:cNvPr id="28" name="g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eyJ2aWV3Qm94IjpbOCwxNl0sInBvaW50cyI6IjQsMCA0LDE2IiwiY3VydmUiOiJzaGFycCJ9</pptd:line>
              </p:ext>
            </p:extLst>
          </p:nvPr>
        </p:nvSpPr>
        <p:spPr>
          <a:xfrm>
            <a:off x="8966200" y="40894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4" y="0"/>
                </a:moveTo>
                <a:lnTo>
                  <a:pt x="4" y="16"/>
                </a:lnTo>
              </a:path>
            </a:pathLst>
          </a:custGeom>
          <a:noFill/>
          <a:ln w="19050">
            <a:solidFill>
              <a:srgbClr val="3A4652"/>
            </a:solidFill>
            <a:tailEnd type="arrow"/>
          </a:ln>
        </p:spPr>
      </p:sp>
      <p:sp>
        <p:nvSpPr>
          <p:cNvPr id="29" name="g3-label"/>
          <p:cNvSpPr txBox="1"/>
          <p:nvPr/>
        </p:nvSpPr>
        <p:spPr>
          <a:xfrm>
            <a:off x="9194800" y="40894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故障排除</a:t>
            </a:r>
            <a:endParaRPr lang="en-US" sz="1000" noProof="1"/>
          </a:p>
        </p:txBody>
      </p:sp>
      <p:sp>
        <p:nvSpPr>
          <p:cNvPr id="30" name="g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eyJ2aWV3Qm94IjpbOCwxNl0sInBvaW50cyI6IjQsMCA0LDE2IiwiY3VydmUiOiJzaGFycCJ9</pptd:line>
              </p:ext>
            </p:extLst>
          </p:nvPr>
        </p:nvSpPr>
        <p:spPr>
          <a:xfrm>
            <a:off x="8966200" y="48768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8" h="16">
                <a:moveTo>
                  <a:pt x="4" y="0"/>
                </a:moveTo>
                <a:lnTo>
                  <a:pt x="4" y="16"/>
                </a:lnTo>
              </a:path>
            </a:pathLst>
          </a:custGeom>
          <a:noFill/>
          <a:ln w="19050">
            <a:solidFill>
              <a:srgbClr val="2E7D4F"/>
            </a:solidFill>
            <a:tailEnd type="arrow"/>
          </a:ln>
        </p:spPr>
      </p:sp>
      <p:sp>
        <p:nvSpPr>
          <p:cNvPr id="31" name="g4-label"/>
          <p:cNvSpPr txBox="1"/>
          <p:nvPr/>
        </p:nvSpPr>
        <p:spPr>
          <a:xfrm>
            <a:off x="9194800" y="48768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83"/>
                </a:solidFill>
                <a:latin typeface="MiSans"/>
                <a:ea typeface="MiSans"/>
              </a:rPr>
              <a:t>再次执行</a:t>
            </a:r>
            <a:endParaRPr lang="en-US" sz="1000" noProof="1"/>
          </a:p>
        </p:txBody>
      </p:sp>
      <p:sp>
        <p:nvSpPr>
          <p:cNvPr id="32" name="col-divider"/>
          <p:cNvSpPr/>
          <p:nvPr/>
        </p:nvSpPr>
        <p:spPr>
          <a:xfrm>
            <a:off x="6096000" y="1320800"/>
            <a:ext cx="12700" cy="4318000"/>
          </a:xfrm>
          <a:prstGeom prst="rect">
            <a:avLst/>
          </a:prstGeom>
          <a:solidFill>
            <a:srgbClr val="D8DEE3"/>
          </a:solidFill>
          <a:ln>
            <a:noFill/>
          </a:ln>
        </p:spPr>
      </p:sp>
      <p:sp>
        <p:nvSpPr>
          <p:cNvPr id="33" name="footer"/>
          <p:cNvSpPr txBox="1"/>
          <p:nvPr/>
        </p:nvSpPr>
        <p:spPr>
          <a:xfrm>
            <a:off x="7620000" y="64770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683"/>
                </a:solidFill>
                <a:latin typeface="MiSans"/>
                <a:ea typeface="MiSans"/>
              </a:rPr>
              <a:t>北煤机拼装产线原型 · 执行控制逻辑 v3.1 · 06 / 06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611</Words>
  <Application>Microsoft Office PowerPoint</Application>
  <PresentationFormat>宽屏</PresentationFormat>
  <Paragraphs>128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MiSans</vt:lpstr>
      <vt:lpstr>Times New Roman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执行按钮逻辑流程图</dc:title>
  <cp:lastModifiedBy>赫 程</cp:lastModifiedBy>
  <cp:revision>2</cp:revision>
  <dcterms:modified xsi:type="dcterms:W3CDTF">2026-10-28T05:34:07Z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